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1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45" d="100"/>
          <a:sy n="45" d="100"/>
        </p:scale>
        <p:origin x="163" y="9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78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5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450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507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06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89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445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7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75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465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049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065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399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897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085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807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23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89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2338" y="942472"/>
            <a:ext cx="10962356" cy="29718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 cleaning and analysis report week 3 activity 2 – </a:t>
            </a:r>
            <a:r>
              <a:rPr lang="en-US" dirty="0"/>
              <a:t>P</a:t>
            </a:r>
            <a:r>
              <a:rPr lang="en-US" dirty="0" smtClean="0"/>
              <a:t>earson correlation and outlier detection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8611" y="4212836"/>
            <a:ext cx="6320589" cy="1947333"/>
          </a:xfrm>
        </p:spPr>
        <p:txBody>
          <a:bodyPr/>
          <a:lstStyle/>
          <a:p>
            <a:r>
              <a:rPr lang="en-US" dirty="0" smtClean="0"/>
              <a:t>Dataset: messy_dataset_Mukesh.csv</a:t>
            </a:r>
          </a:p>
          <a:p>
            <a:r>
              <a:rPr lang="en-US" dirty="0" smtClean="0"/>
              <a:t>Goal: Clean messy data, find correlation, detect outliers( using IQR Interquartile Range)</a:t>
            </a:r>
          </a:p>
          <a:p>
            <a:r>
              <a:rPr lang="en-US" dirty="0" smtClean="0"/>
              <a:t>Presented by : </a:t>
            </a:r>
            <a:r>
              <a:rPr lang="en-US" dirty="0" err="1" smtClean="0"/>
              <a:t>Divya</a:t>
            </a:r>
            <a:r>
              <a:rPr lang="en-US" dirty="0" smtClean="0"/>
              <a:t> </a:t>
            </a:r>
            <a:r>
              <a:rPr lang="en-US" dirty="0" err="1" smtClean="0"/>
              <a:t>Neupane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187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524932"/>
            <a:ext cx="10063999" cy="1507067"/>
          </a:xfrm>
        </p:spPr>
        <p:txBody>
          <a:bodyPr/>
          <a:lstStyle/>
          <a:p>
            <a:r>
              <a:rPr lang="en-US" dirty="0" smtClean="0"/>
              <a:t>Original Data Issues (with exact counts)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4211" y="2566737"/>
            <a:ext cx="10866104" cy="29196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Rows									 10</a:t>
            </a:r>
          </a:p>
          <a:p>
            <a:r>
              <a:rPr lang="en-US" dirty="0" smtClean="0"/>
              <a:t>Columns       		</a:t>
            </a:r>
            <a:r>
              <a:rPr lang="en-US" dirty="0"/>
              <a:t> </a:t>
            </a:r>
            <a:r>
              <a:rPr lang="en-US" dirty="0" smtClean="0"/>
              <a:t>     					 6</a:t>
            </a:r>
          </a:p>
          <a:p>
            <a:r>
              <a:rPr lang="en-US" dirty="0" smtClean="0"/>
              <a:t>Columns Names 						ID, Name, Age, Country,	Salary, Join Date</a:t>
            </a:r>
          </a:p>
          <a:p>
            <a:r>
              <a:rPr lang="en-US" dirty="0" smtClean="0"/>
              <a:t>Duplicate rows							ID =2 appears twice (Bob)</a:t>
            </a:r>
          </a:p>
          <a:p>
            <a:r>
              <a:rPr lang="en-US" dirty="0" smtClean="0"/>
              <a:t>Missing Value		  				       6(Total missing  cells before cleaning)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4212" y="2366205"/>
            <a:ext cx="10449009" cy="68981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Raw Dataset Info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1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 </a:t>
            </a:r>
            <a:r>
              <a:rPr lang="en-US" dirty="0" err="1" smtClean="0"/>
              <a:t>Issuses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9178" y="2574752"/>
            <a:ext cx="11101137" cy="68981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49179" y="3264563"/>
            <a:ext cx="11101137" cy="207745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Issue Type 								Example</a:t>
            </a:r>
          </a:p>
          <a:p>
            <a:r>
              <a:rPr lang="en-US" dirty="0" smtClean="0"/>
              <a:t>Missing Value		  				    </a:t>
            </a:r>
            <a:r>
              <a:rPr lang="en-US" dirty="0"/>
              <a:t>	ID – </a:t>
            </a:r>
            <a:r>
              <a:rPr lang="en-US" dirty="0" smtClean="0"/>
              <a:t>1, Name – 1, Age </a:t>
            </a:r>
            <a:r>
              <a:rPr lang="en-US" dirty="0"/>
              <a:t>- 2, </a:t>
            </a:r>
            <a:r>
              <a:rPr lang="en-US" dirty="0" smtClean="0"/>
              <a:t>Country </a:t>
            </a:r>
            <a:r>
              <a:rPr lang="en-US" dirty="0"/>
              <a:t>– 1  Salary - 2 , Join </a:t>
            </a:r>
            <a:r>
              <a:rPr lang="en-US" dirty="0" smtClean="0"/>
              <a:t>											Date </a:t>
            </a:r>
            <a:r>
              <a:rPr lang="en-US" dirty="0"/>
              <a:t>1  </a:t>
            </a:r>
            <a:r>
              <a:rPr lang="en-US" dirty="0" smtClean="0"/>
              <a:t>– 6(Total missing  cells before cleaning) </a:t>
            </a:r>
          </a:p>
          <a:p>
            <a:r>
              <a:rPr lang="en-US" dirty="0" smtClean="0"/>
              <a:t>Duplicate Row							ID =2 appears Twice (Bob)</a:t>
            </a:r>
          </a:p>
          <a:p>
            <a:r>
              <a:rPr lang="en-US" dirty="0" smtClean="0"/>
              <a:t>Text in Numeric 							Age = “thirty-eight”, salary=“sixty five thousand”</a:t>
            </a:r>
          </a:p>
          <a:p>
            <a:r>
              <a:rPr lang="en-US" dirty="0" smtClean="0"/>
              <a:t>Bad Date Format 						</a:t>
            </a:r>
            <a:r>
              <a:rPr lang="en-US" dirty="0"/>
              <a:t>Invalid month (</a:t>
            </a:r>
            <a:r>
              <a:rPr lang="en-US" dirty="0" smtClean="0"/>
              <a:t>2019-13-01)</a:t>
            </a:r>
          </a:p>
        </p:txBody>
      </p:sp>
    </p:spTree>
    <p:extLst>
      <p:ext uri="{BB962C8B-B14F-4D97-AF65-F5344CB8AC3E}">
        <p14:creationId xmlns:p14="http://schemas.microsoft.com/office/powerpoint/2010/main" val="3530475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44722"/>
            <a:ext cx="8534400" cy="1507067"/>
          </a:xfrm>
        </p:spPr>
        <p:txBody>
          <a:bodyPr/>
          <a:lstStyle/>
          <a:p>
            <a:r>
              <a:rPr lang="en-US" dirty="0" smtClean="0"/>
              <a:t>Cleaning Steps Applied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1" y="2626894"/>
            <a:ext cx="10785893" cy="3615267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4211" y="2374232"/>
            <a:ext cx="11010484" cy="32405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       </a:t>
            </a:r>
            <a:r>
              <a:rPr lang="en-US" sz="3200" b="1" dirty="0" smtClean="0">
                <a:solidFill>
                  <a:schemeClr val="tx1"/>
                </a:solidFill>
              </a:rPr>
              <a:t>Step	                                             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smtClean="0">
                <a:solidFill>
                  <a:schemeClr val="tx1"/>
                </a:solidFill>
              </a:rPr>
              <a:t>Fix Age 					Converted “Thirty-eight to 38”, non-numeric to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smtClean="0">
                <a:solidFill>
                  <a:schemeClr val="tx1"/>
                </a:solidFill>
              </a:rPr>
              <a:t>Fix salary 		 		Converted “sixty five thousand to 65000 ” extracted digits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from other strings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Fix ID  	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                      Made numeric, Merged duplicate ID=2 (kept first non0null values from both rows)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  Fix Dates                         Invalid Dates (month 13 ) </a:t>
            </a:r>
            <a:r>
              <a:rPr lang="en-US" dirty="0" err="1" smtClean="0">
                <a:solidFill>
                  <a:schemeClr val="tx1"/>
                </a:solidFill>
              </a:rPr>
              <a:t>NaT</a:t>
            </a:r>
            <a:endParaRPr lang="en-US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Currency Conversion 	    Created </a:t>
            </a:r>
            <a:r>
              <a:rPr lang="en-US" dirty="0" err="1" smtClean="0">
                <a:solidFill>
                  <a:schemeClr val="tx1"/>
                </a:solidFill>
              </a:rPr>
              <a:t>salary_NZD</a:t>
            </a:r>
            <a:r>
              <a:rPr lang="en-US" dirty="0" smtClean="0">
                <a:solidFill>
                  <a:schemeClr val="tx1"/>
                </a:solidFill>
              </a:rPr>
              <a:t> , Australian salaries * 1.08 =&gt; NZD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marL="342900" indent="-342900" algn="ctr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487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 after cleaning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Rows  10 -&gt; 9 ( duplicate merged)</a:t>
            </a:r>
          </a:p>
          <a:p>
            <a:r>
              <a:rPr lang="en-US" dirty="0" smtClean="0"/>
              <a:t>Columns : 6 -&gt; 7 (added </a:t>
            </a:r>
            <a:r>
              <a:rPr lang="en-US" dirty="0" err="1" smtClean="0"/>
              <a:t>Salary_NZD</a:t>
            </a:r>
            <a:r>
              <a:rPr lang="en-US" dirty="0" smtClean="0"/>
              <a:t>) ( diff values for AUD and NZD )</a:t>
            </a:r>
          </a:p>
          <a:p>
            <a:r>
              <a:rPr lang="en-US" dirty="0" smtClean="0"/>
              <a:t>Missing Values : 6 -&gt; 0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28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14400"/>
            <a:ext cx="9981132" cy="620486"/>
          </a:xfrm>
        </p:spPr>
        <p:txBody>
          <a:bodyPr/>
          <a:lstStyle/>
          <a:p>
            <a:r>
              <a:rPr lang="en-US" dirty="0" smtClean="0"/>
              <a:t>Mean Vs Median Comparison (with Bar Graph)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03" y="2341032"/>
            <a:ext cx="10759233" cy="32505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16000" y="5740400"/>
            <a:ext cx="10634133" cy="863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Here, Age distribution is almost symmetric – mean and median (30 and 30.9) are very close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Salary distribution has a median ( 64000) higher than mean (63,250), indicating a left skew – couples of employees earns less than the typical amount, bringing the average down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784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Pearson Correlation </a:t>
            </a:r>
            <a:r>
              <a:rPr lang="en-US" dirty="0" err="1" smtClean="0"/>
              <a:t>Heatmap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35" y="2281120"/>
            <a:ext cx="4780625" cy="43588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43388" y="3157166"/>
            <a:ext cx="4295959" cy="20281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The Pearson Correlation coefficient is 0.62, indicating a moderate positive linear relationships between age and salary. As age increases , salary tends to increase, but relationship is not extremely strong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809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Outliers Reports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9" y="2497667"/>
            <a:ext cx="8043332" cy="40216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51332" y="3014133"/>
            <a:ext cx="3200402" cy="26077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boxplot whiskers show the farthest data points that are still within the IQR fences. Since no points extend beyond the whiskers, we confirm there are no outliers.</a:t>
            </a:r>
          </a:p>
        </p:txBody>
      </p:sp>
    </p:spTree>
    <p:extLst>
      <p:ext uri="{BB962C8B-B14F-4D97-AF65-F5344CB8AC3E}">
        <p14:creationId xmlns:p14="http://schemas.microsoft.com/office/powerpoint/2010/main" val="3824180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Outliers Reports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Age: </a:t>
            </a:r>
          </a:p>
          <a:p>
            <a:pPr marL="0" indent="0">
              <a:buNone/>
            </a:pPr>
            <a:r>
              <a:rPr lang="en-US" dirty="0" smtClean="0"/>
              <a:t>Q1 = 27, Q3 = 38, IQR = 9.2, Lower = 12.6, Upper = 49.6</a:t>
            </a:r>
          </a:p>
          <a:p>
            <a:pPr marL="0" indent="0">
              <a:buNone/>
            </a:pPr>
            <a:r>
              <a:rPr lang="en-US" dirty="0" smtClean="0"/>
              <a:t>No Outliers detected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Salary NZD</a:t>
            </a:r>
          </a:p>
          <a:p>
            <a:pPr marL="0" indent="0">
              <a:buNone/>
            </a:pPr>
            <a:r>
              <a:rPr lang="en-US" dirty="0"/>
              <a:t>Q1 = </a:t>
            </a:r>
            <a:r>
              <a:rPr lang="en-US" dirty="0" smtClean="0"/>
              <a:t>59500.0, </a:t>
            </a:r>
            <a:r>
              <a:rPr lang="en-US" dirty="0"/>
              <a:t>Q3 = </a:t>
            </a:r>
            <a:r>
              <a:rPr lang="en-US" dirty="0" smtClean="0"/>
              <a:t>65750.0, </a:t>
            </a:r>
            <a:r>
              <a:rPr lang="en-US" dirty="0"/>
              <a:t>IQR = </a:t>
            </a:r>
            <a:r>
              <a:rPr lang="en-US" dirty="0" smtClean="0"/>
              <a:t>6250.0, </a:t>
            </a:r>
            <a:r>
              <a:rPr lang="en-US" dirty="0"/>
              <a:t>Lower = </a:t>
            </a:r>
            <a:r>
              <a:rPr lang="en-US" dirty="0" smtClean="0"/>
              <a:t>50125.0, </a:t>
            </a:r>
            <a:r>
              <a:rPr lang="en-US" dirty="0"/>
              <a:t>Upper = </a:t>
            </a:r>
            <a:r>
              <a:rPr lang="en-US" dirty="0" smtClean="0"/>
              <a:t>75125.0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 Outliers detected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430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 smtClean="0"/>
              <a:t>				</a:t>
            </a:r>
          </a:p>
          <a:p>
            <a:pPr marL="0" indent="0">
              <a:buNone/>
            </a:pPr>
            <a:r>
              <a:rPr lang="en-US" sz="6000" dirty="0"/>
              <a:t>	</a:t>
            </a:r>
            <a:r>
              <a:rPr lang="en-US" sz="6000" dirty="0" smtClean="0"/>
              <a:t>				Thank you !!!!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3412962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81</TotalTime>
  <Words>277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Data cleaning and analysis report week 3 activity 2 – Pearson correlation and outlier detection</vt:lpstr>
      <vt:lpstr>Original Data Issues (with exact counts)</vt:lpstr>
      <vt:lpstr>Specific Issuses</vt:lpstr>
      <vt:lpstr>Cleaning Steps Applied</vt:lpstr>
      <vt:lpstr>Result after cleaning</vt:lpstr>
      <vt:lpstr>Mean Vs Median Comparison (with Bar Graph)</vt:lpstr>
      <vt:lpstr>Pearson Correlation Heatmap </vt:lpstr>
      <vt:lpstr>Outliers Reports</vt:lpstr>
      <vt:lpstr>Outliers Reports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and analysis report week 3 activity 2 – pearson correlation and outlier detection</dc:title>
  <dc:creator>Microsoft account</dc:creator>
  <cp:lastModifiedBy>Microsoft account</cp:lastModifiedBy>
  <cp:revision>11</cp:revision>
  <dcterms:created xsi:type="dcterms:W3CDTF">2026-05-02T11:17:35Z</dcterms:created>
  <dcterms:modified xsi:type="dcterms:W3CDTF">2026-05-02T12:39:33Z</dcterms:modified>
</cp:coreProperties>
</file>